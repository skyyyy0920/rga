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11111"/>
                </a:solidFill>
                <a:latin typeface="Calibri"/>
              </a:rPr>
              <a:t>Relational Gradient Alignment (RGA)</a:t>
            </a:r>
          </a:p>
          <a:p>
            <a:r>
              <a:rPr sz="2200">
                <a:solidFill>
                  <a:srgbClr val="333333"/>
                </a:solidFill>
                <a:latin typeface="Calibri"/>
              </a:rPr>
              <a:t>Selecting KD data by pairwise alignment of two parameter spaces</a:t>
            </a:r>
          </a:p>
          <a:p>
            <a:r>
              <a:rPr sz="1600">
                <a:solidFill>
                  <a:srgbClr val="333333"/>
                </a:solidFill>
                <a:latin typeface="Calibri"/>
              </a:rPr>
              <a:t>Teacher T (frozen)  →  Student S      signatures live in parameter 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Setup &amp; 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Teacher T (frozen), student S; candidate pool of N samples. Select b samples for KD.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p</a:t>
            </a:r>
            <a:r>
              <a:rPr sz="1800" b="0" baseline="-25000">
                <a:solidFill>
                  <a:srgbClr val="333333"/>
                </a:solidFill>
                <a:latin typeface="Calibri"/>
              </a:rPr>
              <a:t>T</a:t>
            </a:r>
            <a:r>
              <a:rPr sz="1800" b="0">
                <a:solidFill>
                  <a:srgbClr val="333333"/>
                </a:solidFill>
                <a:latin typeface="Calibri"/>
              </a:rPr>
              <a:t>(x), p</a:t>
            </a:r>
            <a:r>
              <a:rPr sz="1800" b="0" baseline="-25000">
                <a:solidFill>
                  <a:srgbClr val="333333"/>
                </a:solidFill>
                <a:latin typeface="Calibri"/>
              </a:rPr>
              <a:t>S</a:t>
            </a:r>
            <a:r>
              <a:rPr sz="1800" b="0">
                <a:solidFill>
                  <a:srgbClr val="333333"/>
                </a:solidFill>
                <a:latin typeface="Calibri"/>
              </a:rPr>
              <a:t>(x): teacher / student output distributions.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θ</a:t>
            </a:r>
            <a:r>
              <a:rPr sz="1800" b="0" baseline="-25000">
                <a:solidFill>
                  <a:srgbClr val="333333"/>
                </a:solidFill>
                <a:latin typeface="Calibri"/>
              </a:rPr>
              <a:t>S</a:t>
            </a:r>
            <a:r>
              <a:rPr sz="1800" b="0">
                <a:solidFill>
                  <a:srgbClr val="333333"/>
                </a:solidFill>
                <a:latin typeface="Calibri"/>
              </a:rPr>
              <a:t>, θ</a:t>
            </a:r>
            <a:r>
              <a:rPr sz="1800" b="0" baseline="-25000">
                <a:solidFill>
                  <a:srgbClr val="333333"/>
                </a:solidFill>
                <a:latin typeface="Calibri"/>
              </a:rPr>
              <a:t>T</a:t>
            </a:r>
            <a:r>
              <a:rPr sz="1800" b="0">
                <a:solidFill>
                  <a:srgbClr val="333333"/>
                </a:solidFill>
                <a:latin typeface="Calibri"/>
              </a:rPr>
              <a:t>: student / teacher parameters (attention layers, all blocks).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2A1F"/>
                </a:solidFill>
                <a:latin typeface="Calibri"/>
              </a:rPr>
              <a:t>•  </a:t>
            </a:r>
            <a:r>
              <a:rPr sz="1800" b="1">
                <a:solidFill>
                  <a:srgbClr val="A12A1F"/>
                </a:solidFill>
                <a:latin typeface="Calibri"/>
              </a:rPr>
              <a:t>Challenge: θ</a:t>
            </a:r>
            <a:r>
              <a:rPr sz="1800" b="1" baseline="-25000">
                <a:solidFill>
                  <a:srgbClr val="A12A1F"/>
                </a:solidFill>
                <a:latin typeface="Calibri"/>
              </a:rPr>
              <a:t>S</a:t>
            </a:r>
            <a:r>
              <a:rPr sz="1800" b="1">
                <a:solidFill>
                  <a:srgbClr val="A12A1F"/>
                </a:solidFill>
                <a:latin typeface="Calibri"/>
              </a:rPr>
              <a:t> and θ</a:t>
            </a:r>
            <a:r>
              <a:rPr sz="1800" b="1" baseline="-25000">
                <a:solidFill>
                  <a:srgbClr val="A12A1F"/>
                </a:solidFill>
                <a:latin typeface="Calibri"/>
              </a:rPr>
              <a:t>T</a:t>
            </a:r>
            <a:r>
              <a:rPr sz="1800" b="1">
                <a:solidFill>
                  <a:srgbClr val="A12A1F"/>
                </a:solidFill>
                <a:latin typeface="Calibri"/>
              </a:rPr>
              <a:t> have different dimensions → cannot align the two parameter spaces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4E8A"/>
                </a:solidFill>
                <a:latin typeface="Calibri"/>
              </a:rPr>
              <a:t>•  </a:t>
            </a:r>
            <a:r>
              <a:rPr sz="1800" b="1">
                <a:solidFill>
                  <a:srgbClr val="1A4E8A"/>
                </a:solidFill>
                <a:latin typeface="Calibri"/>
              </a:rPr>
              <a:t>Idea: do pairwise / relative alignment — check if a group of samples follows the same relative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262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4E8A"/>
                </a:solidFill>
                <a:latin typeface="Calibri"/>
              </a:rPr>
              <a:t>pattern in the two parameter spaces.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Step 1 — two parameter-space signatures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111"/>
                </a:solidFill>
                <a:latin typeface="Calibri"/>
              </a:rPr>
              <a:t>•  </a:t>
            </a:r>
            <a:r>
              <a:rPr sz="1800" b="1">
                <a:solidFill>
                  <a:srgbClr val="111111"/>
                </a:solidFill>
                <a:latin typeface="Calibri"/>
              </a:rPr>
              <a:t>Student: gradient of the KD loss w.r.t. the student's deep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96596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ambria Math"/>
              </a:rPr>
              <a:t>g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(x) = ∇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θ_S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 KL( p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(x) ‖ p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(x)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111"/>
                </a:solidFill>
                <a:latin typeface="Calibri"/>
              </a:rPr>
              <a:t>•  </a:t>
            </a:r>
            <a:r>
              <a:rPr sz="1800" b="1">
                <a:solidFill>
                  <a:srgbClr val="111111"/>
                </a:solidFill>
                <a:latin typeface="Calibri"/>
              </a:rPr>
              <a:t>Teacher: gradient of the teacher's own loss w.r.t. the teacher's deep parameters (eNTK)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3756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ambria Math"/>
              </a:rPr>
              <a:t>g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(x) = ∇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θ_T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 ( − log p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(y | x)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Random projection (Count-Sketch) to a common dimension 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634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11111"/>
                </a:solidFill>
                <a:latin typeface="Cambria Math"/>
              </a:rPr>
              <a:t>G</a:t>
            </a:r>
            <a:r>
              <a:rPr sz="22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200" b="0">
                <a:solidFill>
                  <a:srgbClr val="111111"/>
                </a:solidFill>
                <a:latin typeface="Cambria Math"/>
              </a:rPr>
              <a:t> = Π g</a:t>
            </a:r>
            <a:r>
              <a:rPr sz="22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200" b="0">
                <a:solidFill>
                  <a:srgbClr val="111111"/>
                </a:solidFill>
                <a:latin typeface="Cambria Math"/>
              </a:rPr>
              <a:t> ,   G</a:t>
            </a:r>
            <a:r>
              <a:rPr sz="22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200" b="0">
                <a:solidFill>
                  <a:srgbClr val="111111"/>
                </a:solidFill>
                <a:latin typeface="Cambria Math"/>
              </a:rPr>
              <a:t> = Π g</a:t>
            </a:r>
            <a:r>
              <a:rPr sz="22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200" b="0">
                <a:solidFill>
                  <a:srgbClr val="111111"/>
                </a:solidFill>
                <a:latin typeface="Cambria Math"/>
              </a:rPr>
              <a:t>      (both in parameter space)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A12A1F"/>
                </a:solidFill>
                <a:latin typeface="Calibri"/>
              </a:rPr>
              <a:t>•  </a:t>
            </a:r>
            <a:r>
              <a:rPr sz="1800" b="0">
                <a:solidFill>
                  <a:srgbClr val="A12A1F"/>
                </a:solidFill>
                <a:latin typeface="Calibri"/>
              </a:rPr>
              <a:t>Fix vs. earlier version: teacher side used a last-layer feature (= last-layer eNTK, shallow);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9893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A12A1F"/>
                </a:solidFill>
                <a:latin typeface="Calibri"/>
              </a:rPr>
              <a:t>now a deep parameter gradient → genuinely two parameter spaces.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Step 2 — pairwise relation matrix in each 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Pick m anchor samples a</a:t>
            </a:r>
            <a:r>
              <a:rPr sz="1800" b="0" baseline="-25000">
                <a:solidFill>
                  <a:srgbClr val="333333"/>
                </a:solidFill>
                <a:latin typeface="Calibri"/>
              </a:rPr>
              <a:t>1</a:t>
            </a:r>
            <a:r>
              <a:rPr sz="1800" b="0">
                <a:solidFill>
                  <a:srgbClr val="333333"/>
                </a:solidFill>
                <a:latin typeface="Calibri"/>
              </a:rPr>
              <a:t> … a</a:t>
            </a:r>
            <a:r>
              <a:rPr sz="1800" b="0" baseline="-25000">
                <a:solidFill>
                  <a:srgbClr val="333333"/>
                </a:solidFill>
                <a:latin typeface="Calibri"/>
              </a:rPr>
              <a:t>m</a:t>
            </a:r>
            <a:r>
              <a:rPr sz="1800" b="0">
                <a:solidFill>
                  <a:srgbClr val="333333"/>
                </a:solidFill>
                <a:latin typeface="Calibri"/>
              </a:rPr>
              <a:t>. Build each space's Gram (pairwise) matrix: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ambria Math"/>
              </a:rPr>
              <a:t>K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[i,j] = ⟨ G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(x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i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) , G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(a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j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) ⟩        (student parameter space)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9718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ambria Math"/>
              </a:rPr>
              <a:t>K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[i,j] = ⟨ G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(x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i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) , G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(a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j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) ⟩        (teacher parameter space)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Double-center each (remove per-row / per-column bias, keep relative structure):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5720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ambria Math"/>
              </a:rPr>
              <a:t>K′ = H K H ,     H = I − (1/m) · 1 1</a:t>
            </a:r>
            <a:r>
              <a:rPr sz="2600" b="0" baseline="30000">
                <a:solidFill>
                  <a:srgbClr val="111111"/>
                </a:solidFill>
                <a:latin typeface="Cambria Math"/>
              </a:rPr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Each row K′[i,:] = how sample i relates to the anchors in that parameter space (its pattern).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Step 3 — per-sample alignment residual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For each sample, compare its pattern in the two parameter spaces: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solidFill>
                  <a:srgbClr val="111111"/>
                </a:solidFill>
                <a:latin typeface="Cambria Math"/>
              </a:rPr>
              <a:t>r(i) = 1 − corr( K′</a:t>
            </a:r>
            <a:r>
              <a:rPr sz="30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3000" b="0">
                <a:solidFill>
                  <a:srgbClr val="111111"/>
                </a:solidFill>
                <a:latin typeface="Cambria Math"/>
              </a:rPr>
              <a:t>[i,:] , K′</a:t>
            </a:r>
            <a:r>
              <a:rPr sz="30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3000" b="0">
                <a:solidFill>
                  <a:srgbClr val="111111"/>
                </a:solidFill>
                <a:latin typeface="Cambria Math"/>
              </a:rPr>
              <a:t>[i,:]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6B2E"/>
                </a:solidFill>
                <a:latin typeface="Calibri"/>
              </a:rPr>
              <a:t>•  </a:t>
            </a:r>
            <a:r>
              <a:rPr sz="1800" b="1">
                <a:solidFill>
                  <a:srgbClr val="1E6B2E"/>
                </a:solidFill>
                <a:latin typeface="Calibri"/>
              </a:rPr>
              <a:t>r(i) small  →  same pattern in both parameter spaces  →  aligned  →  redundant (skip).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2A1F"/>
                </a:solidFill>
                <a:latin typeface="Calibri"/>
              </a:rPr>
              <a:t>•  </a:t>
            </a:r>
            <a:r>
              <a:rPr sz="1800" b="1">
                <a:solidFill>
                  <a:srgbClr val="A12A1F"/>
                </a:solidFill>
                <a:latin typeface="Calibri"/>
              </a:rPr>
              <a:t>r(i) large  →  different pattern  →  the teacher's parameter space encodes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5720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2A1F"/>
                </a:solidFill>
                <a:latin typeface="Calibri"/>
              </a:rPr>
              <a:t>the student's does not yet  →  valuable (select).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4E8A"/>
                </a:solidFill>
                <a:latin typeface="Calibri"/>
              </a:rPr>
              <a:t>•  </a:t>
            </a:r>
            <a:r>
              <a:rPr sz="1800" b="1">
                <a:solidFill>
                  <a:srgbClr val="1A4E8A"/>
                </a:solidFill>
                <a:latin typeface="Calibri"/>
              </a:rPr>
              <a:t>This is the CKA-style pairwise / relative alignment between the two parameter spaces.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Step 4 — select via the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(optional) teacher-correctness gate — off for a clean teacher, on under a noised teacher.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Take the top-3b samples by r; then D-optimal coverage on the anchor-space residual: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0175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ambria Math"/>
              </a:rPr>
              <a:t>select b samples covering  R[i] = K′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[i,:] − K′</a:t>
            </a:r>
            <a:r>
              <a:rPr sz="26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600" b="0">
                <a:solidFill>
                  <a:srgbClr val="111111"/>
                </a:solidFill>
                <a:latin typeface="Cambria Math"/>
              </a:rPr>
              <a:t>[i,:]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•  </a:t>
            </a:r>
            <a:r>
              <a:rPr sz="1800" b="0">
                <a:solidFill>
                  <a:srgbClr val="333333"/>
                </a:solidFill>
                <a:latin typeface="Calibri"/>
              </a:rPr>
              <a:t>Coverage keeps the selection diverse (not all the same kind of mis-alignment).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111"/>
                </a:solidFill>
                <a:latin typeface="Calibri"/>
              </a:rPr>
              <a:t>•  </a:t>
            </a:r>
            <a:r>
              <a:rPr sz="1800" b="1">
                <a:solidFill>
                  <a:srgbClr val="111111"/>
                </a:solidFill>
                <a:latin typeface="Calibri"/>
              </a:rPr>
              <a:t>Output: a coreset chosen purely by parameter-space alignment → distill the student on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Whole pipeline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Cambria Math"/>
              </a:rPr>
              <a:t>x  →  g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(x)=∇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θ_S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 KL(p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‖p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) ,   g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(x)=∇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θ_T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(−log p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Cambria Math"/>
              </a:rPr>
              <a:t>→  project:  G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 , G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Cambria Math"/>
              </a:rPr>
              <a:t>→  K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 = G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 G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[A]</a:t>
            </a:r>
            <a:r>
              <a:rPr sz="2000" b="0" baseline="30000">
                <a:solidFill>
                  <a:srgbClr val="111111"/>
                </a:solidFill>
                <a:latin typeface="Cambria Math"/>
              </a:rPr>
              <a:t>T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 ,   K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 = G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 G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[A]</a:t>
            </a:r>
            <a:r>
              <a:rPr sz="2000" b="0" baseline="30000">
                <a:solidFill>
                  <a:srgbClr val="111111"/>
                </a:solidFill>
                <a:latin typeface="Cambria Math"/>
              </a:rPr>
              <a:t>T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   →  center  K′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Cambria Math"/>
              </a:rPr>
              <a:t>→  r(i) = 1 − corr( K′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T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[i,:] , K′</a:t>
            </a:r>
            <a:r>
              <a:rPr sz="2000" b="0" baseline="-25000">
                <a:solidFill>
                  <a:srgbClr val="111111"/>
                </a:solidFill>
                <a:latin typeface="Cambria Math"/>
              </a:rPr>
              <a:t>S</a:t>
            </a:r>
            <a:r>
              <a:rPr sz="2000" b="0">
                <a:solidFill>
                  <a:srgbClr val="111111"/>
                </a:solidFill>
                <a:latin typeface="Cambria Math"/>
              </a:rPr>
              <a:t>[i,:]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Cambria Math"/>
              </a:rPr>
              <a:t>→  select high-r + coverage  →  b samples  →  KD-train 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Why this is parameter-space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6217920"/>
              </a:tblGrid>
              <a:tr h="62179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What the method does</a:t>
                      </a:r>
                    </a:p>
                  </a:txBody>
                  <a:tcPr>
                    <a:solidFill>
                      <a:srgbClr val="1A4E8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parameter space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both g</a:t>
                      </a:r>
                      <a:r>
                        <a:rPr sz="1600" b="0" baseline="-25000">
                          <a:solidFill>
                            <a:srgbClr val="111111"/>
                          </a:solidFill>
                          <a:latin typeface="Calibri"/>
                        </a:rPr>
                        <a:t>S</a:t>
                      </a:r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, g</a:t>
                      </a:r>
                      <a:r>
                        <a:rPr sz="1600" b="0" baseline="-25000">
                          <a:solidFill>
                            <a:srgbClr val="111111"/>
                          </a:solidFill>
                          <a:latin typeface="Calibri"/>
                        </a:rPr>
                        <a:t>T</a:t>
                      </a:r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 are deep parameter gradients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different dims → pairwise/relative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Gram K</a:t>
                      </a:r>
                      <a:r>
                        <a:rPr sz="1600" b="0" baseline="-25000">
                          <a:solidFill>
                            <a:srgbClr val="111111"/>
                          </a:solidFill>
                          <a:latin typeface="Calibri"/>
                        </a:rPr>
                        <a:t>S</a:t>
                      </a:r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, K</a:t>
                      </a:r>
                      <a:r>
                        <a:rPr sz="1600" b="0" baseline="-25000">
                          <a:solidFill>
                            <a:srgbClr val="111111"/>
                          </a:solidFill>
                          <a:latin typeface="Calibri"/>
                        </a:rPr>
                        <a:t>T</a:t>
                      </a:r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 in each space; align the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same pattern for a group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r = 1 − corr of the two pattern rows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use it to select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pick high-r (mis-aligned) samples +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9377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6B2E"/>
                </a:solidFill>
                <a:latin typeface="Calibri"/>
              </a:rPr>
              <a:t>•  </a:t>
            </a:r>
            <a:r>
              <a:rPr sz="1800" b="1">
                <a:solidFill>
                  <a:srgbClr val="1E6B2E"/>
                </a:solidFill>
                <a:latin typeface="Calibri"/>
              </a:rPr>
              <a:t>Empirical: TAGCOS (same deep gradients, only clustered) and LESS (ICML'24, gradient-to-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4864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6B2E"/>
                </a:solidFill>
                <a:latin typeface="Calibri"/>
              </a:rPr>
              <a:t>validation cosine) both lose to us at every budget → the teacher-relational alignment itself helps.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